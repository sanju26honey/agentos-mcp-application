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6256" y="0"/>
            <a:ext cx="3285439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366760" y="566928"/>
            <a:ext cx="3675888" cy="3675888"/>
          </a:xfrm>
          <a:prstGeom prst="arc">
            <a:avLst/>
          </a:prstGeom>
          <a:solidFill>
            <a:srgbClr val="0B1F3A">
              <a:alpha val="0"/>
            </a:srgbClr>
          </a:solidFill>
          <a:ln w="25400">
            <a:solidFill>
              <a:srgbClr val="2B84EA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9345168" y="1965960"/>
            <a:ext cx="2788920" cy="2788920"/>
          </a:xfrm>
          <a:prstGeom prst="arc">
            <a:avLst/>
          </a:prstGeom>
          <a:solidFill>
            <a:srgbClr val="0B1F3A">
              <a:alpha val="0"/>
            </a:srgbClr>
          </a:solidFill>
          <a:ln w="19050">
            <a:solidFill>
              <a:srgbClr val="69A8F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65792" y="1399032"/>
            <a:ext cx="1508760" cy="1508760"/>
          </a:xfrm>
          <a:prstGeom prst="ellipse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59568" y="190195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502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B84EA"/>
          </a:solidFill>
          <a:ln w="8890">
            <a:solidFill>
              <a:srgbClr val="2B8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3" y="541325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87552" y="502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BUILDATHON 2026  /  TRACK 1 · AI GROWTH &amp; AGENTIC COMMERCE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1828800"/>
            <a:ext cx="78181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trusted payment layer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agentic commerce.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640080" y="3712464"/>
            <a:ext cx="960120" cy="0"/>
          </a:xfrm>
          <a:prstGeom prst="line">
            <a:avLst/>
          </a:prstGeom>
          <a:noFill/>
          <a:ln w="26670">
            <a:solidFill>
              <a:srgbClr val="2B8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4106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AI-Commerce Adapter for Razorpay Merchants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every merchant become AI-discoverable, while Razorpay keeps every autonomous purchase secure, approved and auditable.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715000"/>
            <a:ext cx="2926080" cy="429768"/>
          </a:xfrm>
          <a:prstGeom prst="roundRect">
            <a:avLst>
              <a:gd name="adj" fmla="val 17021"/>
            </a:avLst>
          </a:prstGeom>
          <a:solidFill>
            <a:srgbClr val="EAF3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5833872"/>
            <a:ext cx="2587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6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 ·  AI discovery  ·  Razorpay rails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BUILDATHON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83696" y="64282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8A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4652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5" kern="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BUILDATHON  /  TRACK 1 · AI GROWTH &amp; AGENTIC COMMERCE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064240" y="6428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303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BROKEN MOMENT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813816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 discover a product — but checkout still breaks.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350008" cy="2487168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8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6868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“Find a leather jacket under ₹8,000”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08376" y="299923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350008" cy="2487168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94560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8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65760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discovers a relevant product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97296" y="299923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350008" cy="2487168"/>
          </a:xfrm>
          <a:prstGeom prst="roundRect">
            <a:avLst>
              <a:gd name="adj" fmla="val 3113"/>
            </a:avLst>
          </a:prstGeom>
          <a:solidFill>
            <a:srgbClr val="FFF2F1"/>
          </a:solidFill>
          <a:ln w="8890">
            <a:solidFill>
              <a:srgbClr val="F8CA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194560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D4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4652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D4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644652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leaves AI to browse, search and fill forms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86216" y="299923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06840" y="1920240"/>
            <a:ext cx="2350008" cy="2487168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194560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2354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8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23544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loses the intent-rich conversion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54126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56875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4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877824" y="584301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commerce needs a trusted action layer — not just another product search experience.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4652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5" kern="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BUILDATHON  /  TRACK 1 · AI GROWTH &amp; AGENTIC COMMERCE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064240" y="6428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303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813816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Two secure interfaces. One trusted transaction flow.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51755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993392"/>
            <a:ext cx="438912" cy="438912"/>
          </a:xfrm>
          <a:prstGeom prst="ellipse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894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578608"/>
            <a:ext cx="4718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API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2980944"/>
            <a:ext cx="47183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and update inventory · create Razorpay orders · verify payment signatures · get AI cross-sell recommendations · set merchant auto-purchase limits.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373368" y="1755648"/>
            <a:ext cx="51755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01968" y="1993392"/>
            <a:ext cx="438912" cy="438912"/>
          </a:xfrm>
          <a:prstGeom prst="ellipse">
            <a:avLst/>
          </a:prstGeom>
          <a:solidFill>
            <a:srgbClr val="16836A"/>
          </a:solidFill>
          <a:ln w="12700">
            <a:solidFill>
              <a:srgbClr val="1683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0894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01968" y="2578608"/>
            <a:ext cx="4718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 for AI agents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01968" y="2980944"/>
            <a:ext cx="47183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buyer adds our MCP server to Claude, ChatGPT, Gemini or any LLM agent. Seven commerce tools let the agent discover, check, recommend and transact securely.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879592" y="2880360"/>
            <a:ext cx="429768" cy="0"/>
          </a:xfrm>
          <a:prstGeom prst="line">
            <a:avLst/>
          </a:prstGeom>
          <a:noFill/>
          <a:ln w="17780">
            <a:solidFill>
              <a:srgbClr val="2B84EA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742432" y="313639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6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40080" y="554126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56875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4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CONTROLS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877824" y="584301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configured limits, AI can complete a purchase automatically. Above either merchant or buyer limit, Human-in-the-Loop approval is required.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4652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5" kern="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BUILDATHON  /  TRACK 1 · AI GROWTH &amp; AGENTIC COMMERCE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064240" y="6428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303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SIDE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813816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Lightweight adapter for any e-commerce stack.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25526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Shopify &amp; WP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127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1-click app &amp; plugin distribution.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325526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99432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&amp; Node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3127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1 line of router middleware to expose MCP tools.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874520"/>
            <a:ext cx="325526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02752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Rewrite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02752" y="3127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directly to existing catalog &amp; Razorpay rails.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507992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889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663440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30" kern="0" dirty="0">
                <a:solidFill>
                  <a:srgbClr val="8EB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CAPABILITIES EXPOSED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877824" y="4837176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sync   ·   discovery   ·   policy checks   ·   AI cross-sell   ·   Razorpay order &amp; payment verification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40080" y="554126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56875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4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VALUE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877824" y="584301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Become AI-discoverable without replacing the existing storefront or payment workflow.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4652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5" kern="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BUILDATHON  /  TRACK 1 · AI GROWTH &amp; AGENTIC COMMERCE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064240" y="6428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303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SIDE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813816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favourite AI assistant becomes a trusted shopper.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2359152" cy="242316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249424"/>
            <a:ext cx="585216" cy="585216"/>
          </a:xfrm>
          <a:prstGeom prst="ellipse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243230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3136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35661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the Razorpay MCP server URL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017520" y="296265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38144" y="1993392"/>
            <a:ext cx="2359152" cy="242316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5968" y="2249424"/>
            <a:ext cx="585216" cy="585216"/>
          </a:xfrm>
          <a:prstGeom prst="ellipse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243230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3136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5661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“Find a genuine leather jacket under ₹5,000”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815584" y="296265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36208" y="1993392"/>
            <a:ext cx="2359152" cy="242316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4032" y="2249424"/>
            <a:ext cx="585216" cy="585216"/>
          </a:xfrm>
          <a:prstGeom prst="ellipse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243230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55664" y="3136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37376" y="35661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products, stock, policy and price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613648" y="296265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034272" y="1993392"/>
            <a:ext cx="2359152" cy="2423160"/>
          </a:xfrm>
          <a:prstGeom prst="roundRect">
            <a:avLst>
              <a:gd name="adj" fmla="val 3101"/>
            </a:avLst>
          </a:prstGeom>
          <a:solidFill>
            <a:srgbClr val="2B84EA"/>
          </a:solidFill>
          <a:ln w="8890">
            <a:solidFill>
              <a:srgbClr val="2B84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12096" y="224942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12096" y="2432304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53728" y="3136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35440" y="35661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7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automatically — or approve when required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554126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56875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4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CONTROL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877824" y="584301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shopping stays bounded by the buyer’s approval limit and the merchant’s transaction policy.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5" kern="0" dirty="0">
                <a:solidFill>
                  <a:srgbClr val="8EB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BUILDATHON  /  TRACK 1 · AI GROWTH &amp; AGENTIC COMMERCE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1064240" y="6428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B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13816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Multi-store routing vision for the Razorpay network.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2148840" cy="1344168"/>
          </a:xfrm>
          <a:prstGeom prst="roundRect">
            <a:avLst>
              <a:gd name="adj" fmla="val 5442"/>
            </a:avLst>
          </a:prstGeom>
          <a:solidFill>
            <a:srgbClr val="132B4B"/>
          </a:solidFill>
          <a:ln w="8890">
            <a:solidFill>
              <a:srgbClr val="2B4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4203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AI 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3090672"/>
            <a:ext cx="1746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FC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 · Claude · Gemini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85032" y="2212848"/>
            <a:ext cx="2788920" cy="1344168"/>
          </a:xfrm>
          <a:prstGeom prst="roundRect">
            <a:avLst>
              <a:gd name="adj" fmla="val 5442"/>
            </a:avLst>
          </a:prstGeom>
          <a:solidFill>
            <a:srgbClr val="2B84EA"/>
          </a:solidFill>
          <a:ln w="8890">
            <a:solidFill>
              <a:srgbClr val="2B8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54203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Razorpay Multi-Store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Commerce Hub (Vision)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86200" y="3090672"/>
            <a:ext cx="2386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· rank · route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394192" y="2212848"/>
            <a:ext cx="3154680" cy="1344168"/>
          </a:xfrm>
          <a:prstGeom prst="roundRect">
            <a:avLst>
              <a:gd name="adj" fmla="val 5442"/>
            </a:avLst>
          </a:prstGeom>
          <a:solidFill>
            <a:srgbClr val="132B4B"/>
          </a:solidFill>
          <a:ln w="8890">
            <a:solidFill>
              <a:srgbClr val="2B4B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542032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Participating merchants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0" y="3090672"/>
            <a:ext cx="2752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FC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Catalogs · inventory · policies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88920" y="27249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9A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84848" y="27249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9A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993392" y="4224528"/>
            <a:ext cx="2450592" cy="484632"/>
          </a:xfrm>
          <a:prstGeom prst="roundRect">
            <a:avLst>
              <a:gd name="adj" fmla="val 15094"/>
            </a:avLst>
          </a:prstGeom>
          <a:solidFill>
            <a:srgbClr val="132B4B"/>
          </a:solidFill>
          <a:ln w="8890">
            <a:solidFill>
              <a:srgbClr val="2B4B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4389120"/>
            <a:ext cx="2450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E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match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9744" y="4224528"/>
            <a:ext cx="2450592" cy="484632"/>
          </a:xfrm>
          <a:prstGeom prst="roundRect">
            <a:avLst>
              <a:gd name="adj" fmla="val 15094"/>
            </a:avLst>
          </a:prstGeom>
          <a:solidFill>
            <a:srgbClr val="132B4B"/>
          </a:solidFill>
          <a:ln w="8890">
            <a:solidFill>
              <a:srgbClr val="2B4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4389120"/>
            <a:ext cx="2450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E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&amp; delivery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26096" y="4224528"/>
            <a:ext cx="2450592" cy="484632"/>
          </a:xfrm>
          <a:prstGeom prst="roundRect">
            <a:avLst>
              <a:gd name="adj" fmla="val 15094"/>
            </a:avLst>
          </a:prstGeom>
          <a:solidFill>
            <a:srgbClr val="132B4B"/>
          </a:solidFill>
          <a:ln w="8890">
            <a:solidFill>
              <a:srgbClr val="2B4B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4389120"/>
            <a:ext cx="2450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E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&amp; policy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554126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132B4B"/>
          </a:solidFill>
          <a:ln w="8890">
            <a:solidFill>
              <a:srgbClr val="132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56875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4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EFFECT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877824" y="584301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MCP adapter provides the foundational node engine for Razorpay to aggregate merchants into an AI-searchable network.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4652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5" kern="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BUILDATHON  /  TRACK 1 · AI GROWTH &amp; AGENTIC COMMERCE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064240" y="6428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303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813816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where safe. Human where it matters.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4884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319125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₹4,499 jacket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514600" y="29169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834640" y="190195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214884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35808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35808" y="319125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complementary item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709160" y="29169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0" y="190195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214884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30368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0368" y="319125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budget &amp; price integrity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903720" y="29169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223760" y="190195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EAF3FF"/>
          </a:solidFill>
          <a:ln w="8890">
            <a:solidFill>
              <a:srgbClr val="91C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214884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24928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24928" y="319125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if limit exceeded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098280" y="29169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418320" y="190195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19488" y="214884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619488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19488" y="319125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order · capture · audit log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40080" y="4800600"/>
            <a:ext cx="10908792" cy="411480"/>
          </a:xfrm>
          <a:prstGeom prst="roundRect">
            <a:avLst>
              <a:gd name="adj" fmla="val 17778"/>
            </a:avLst>
          </a:prstGeom>
          <a:solidFill>
            <a:srgbClr val="EAF8F4"/>
          </a:solidFill>
          <a:ln w="8890">
            <a:solidFill>
              <a:srgbClr val="B4E6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937760"/>
            <a:ext cx="10195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269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Every completed payment is verified and recorded, with live audit logs visible on the merchant dashboard.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554126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56875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4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BY DESIGN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877824" y="584301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limits determine the path: direct payment below threshold; explicit approval above it.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4652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5" kern="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BUILDATHON  /  TRACK 1 · AI GROWTH &amp; AGENTIC COMMERCE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064240" y="6428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303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ENHANCEMENTS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813816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for a richer agentic commerce ecosystem.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1709928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947672"/>
            <a:ext cx="438912" cy="438912"/>
          </a:xfrm>
          <a:prstGeom prst="ellipse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4368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532888"/>
            <a:ext cx="4773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Multi-vendor routing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2935224"/>
            <a:ext cx="4773168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Federated search &amp; comparison across merchant network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236208" y="1709928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1947672"/>
            <a:ext cx="438912" cy="438912"/>
          </a:xfrm>
          <a:prstGeom prst="ellipse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04368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532888"/>
            <a:ext cx="4773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plugins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64808" y="2935224"/>
            <a:ext cx="4773168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Off-the-shelf Shopify App Store &amp; WooCommerce plugins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666744"/>
            <a:ext cx="438912" cy="438912"/>
          </a:xfrm>
          <a:prstGeom prst="ellipse">
            <a:avLst/>
          </a:prstGeom>
          <a:solidFill>
            <a:srgbClr val="2B84EA"/>
          </a:solidFill>
          <a:ln w="12700">
            <a:solidFill>
              <a:srgbClr val="2B8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76275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251960"/>
            <a:ext cx="4773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Commerce depth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8680" y="4654296"/>
            <a:ext cx="4773168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Carts, subscriptions, refunds and support via MCP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236208" y="3429000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08" y="3666744"/>
            <a:ext cx="438912" cy="438912"/>
          </a:xfrm>
          <a:prstGeom prst="ellipse">
            <a:avLst/>
          </a:prstGeom>
          <a:solidFill>
            <a:srgbClr val="16836A"/>
          </a:solidFill>
          <a:ln w="12700">
            <a:solidFill>
              <a:srgbClr val="1683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376275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64808" y="4251960"/>
            <a:ext cx="4773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intelligence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64808" y="4654296"/>
            <a:ext cx="4773168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0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scoring, anomaly detection and merchant analytics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40080" y="554126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8890">
            <a:solidFill>
              <a:srgbClr val="C8DD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56875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4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877824" y="584301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from secure product discovery and payment into the complete, intelligent purchase lifecycle.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05" kern="0" dirty="0">
                <a:solidFill>
                  <a:srgbClr val="8EB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BUILDATHON  /  TRACK 1 · AI GROWTH &amp; AGENTIC COMMERCE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1064240" y="6428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B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2B8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13816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Razorpay can power trusted autonomous commerce.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55264" cy="1975104"/>
          </a:xfrm>
          <a:prstGeom prst="roundRect">
            <a:avLst>
              <a:gd name="adj" fmla="val 3704"/>
            </a:avLst>
          </a:prstGeom>
          <a:solidFill>
            <a:srgbClr val="132B4B"/>
          </a:solidFill>
          <a:ln w="8890">
            <a:solidFill>
              <a:srgbClr val="2B4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21992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40" kern="0" dirty="0">
                <a:solidFill>
                  <a:srgbClr val="8EB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6112" y="27706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 AI-ready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rebuilding stores.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255264" cy="1975104"/>
          </a:xfrm>
          <a:prstGeom prst="roundRect">
            <a:avLst>
              <a:gd name="adj" fmla="val 3704"/>
            </a:avLst>
          </a:prstGeom>
          <a:solidFill>
            <a:srgbClr val="132B4B"/>
          </a:solidFill>
          <a:ln w="8890">
            <a:solidFill>
              <a:srgbClr val="2B4B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221992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40" kern="0" dirty="0">
                <a:solidFill>
                  <a:srgbClr val="8EB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99432" y="27706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naturally with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approval control.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255264" cy="1975104"/>
          </a:xfrm>
          <a:prstGeom prst="roundRect">
            <a:avLst>
              <a:gd name="adj" fmla="val 3704"/>
            </a:avLst>
          </a:prstGeom>
          <a:solidFill>
            <a:srgbClr val="2B84EA"/>
          </a:solidFill>
          <a:ln w="8890">
            <a:solidFill>
              <a:srgbClr val="2B8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2221992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40" kern="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02752" y="27706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the trusted transaction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of the agentic economy.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4590288"/>
            <a:ext cx="5888736" cy="0"/>
          </a:xfrm>
          <a:prstGeom prst="line">
            <a:avLst/>
          </a:prstGeom>
          <a:noFill/>
          <a:ln w="19050">
            <a:solidFill>
              <a:srgbClr val="2B8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828032"/>
            <a:ext cx="9912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payment gateway to the financial backbone of the global agentic economy.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03520" y="5641848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B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Razorpay Buildathon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Razorpay AI-Commerce Adapter</dc:title>
  <dc:subject>Universal AI-Commerce Adapter for Razorpay Merchants</dc:subject>
  <dc:creator>Razorpay Buildathon Team</dc:creator>
  <cp:lastModifiedBy>Razorpay Buildathon Team</cp:lastModifiedBy>
  <cp:revision>1</cp:revision>
  <dcterms:created xsi:type="dcterms:W3CDTF">2026-09-01T14:43:09Z</dcterms:created>
  <dcterms:modified xsi:type="dcterms:W3CDTF">2026-09-01T14:43:09Z</dcterms:modified>
</cp:coreProperties>
</file>